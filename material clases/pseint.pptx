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21"/>
  </p:notesMasterIdLst>
  <p:handoutMasterIdLst>
    <p:handoutMasterId r:id="rId22"/>
  </p:handoutMasterIdLst>
  <p:sldIdLst>
    <p:sldId id="256" r:id="rId2"/>
    <p:sldId id="257" r:id="rId3"/>
    <p:sldId id="258" r:id="rId4"/>
    <p:sldId id="259" r:id="rId5"/>
    <p:sldId id="260" r:id="rId6"/>
    <p:sldId id="261" r:id="rId7"/>
    <p:sldId id="264" r:id="rId8"/>
    <p:sldId id="265" r:id="rId9"/>
    <p:sldId id="262" r:id="rId10"/>
    <p:sldId id="266" r:id="rId11"/>
    <p:sldId id="263" r:id="rId12"/>
    <p:sldId id="267" r:id="rId13"/>
    <p:sldId id="268" r:id="rId14"/>
    <p:sldId id="269" r:id="rId15"/>
    <p:sldId id="270" r:id="rId16"/>
    <p:sldId id="271" r:id="rId17"/>
    <p:sldId id="272" r:id="rId18"/>
    <p:sldId id="273" r:id="rId19"/>
    <p:sldId id="274" r:id="rId20"/>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787"/>
    <p:restoredTop sz="90929"/>
  </p:normalViewPr>
  <p:slideViewPr>
    <p:cSldViewPr>
      <p:cViewPr varScale="1">
        <p:scale>
          <a:sx n="66" d="100"/>
          <a:sy n="66" d="100"/>
        </p:scale>
        <p:origin x="-246"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3174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3174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3174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458D5957-59AE-4FFF-8F3F-F57E9AF0CA36}" type="slidenum">
              <a:rPr lang="en-US"/>
              <a:pPr/>
              <a:t>‹Nº›</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3379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337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3379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3379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3379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1EFA7F3B-A564-4B3A-879F-2EA86A7DF518}" type="slidenum">
              <a:rPr lang="en-US"/>
              <a:pPr/>
              <a:t>‹Nº›</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charset="0"/>
        <a:ea typeface="+mn-ea"/>
        <a:cs typeface="+mn-cs"/>
      </a:defRPr>
    </a:lvl1pPr>
    <a:lvl2pPr marL="457200" algn="l" rtl="0" eaLnBrk="0" fontAlgn="base" hangingPunct="0">
      <a:spcBef>
        <a:spcPct val="30000"/>
      </a:spcBef>
      <a:spcAft>
        <a:spcPct val="0"/>
      </a:spcAft>
      <a:defRPr sz="1200" kern="1200">
        <a:solidFill>
          <a:schemeClr val="tx1"/>
        </a:solidFill>
        <a:latin typeface="Times" charset="0"/>
        <a:ea typeface="+mn-ea"/>
        <a:cs typeface="+mn-cs"/>
      </a:defRPr>
    </a:lvl2pPr>
    <a:lvl3pPr marL="914400" algn="l" rtl="0" eaLnBrk="0" fontAlgn="base" hangingPunct="0">
      <a:spcBef>
        <a:spcPct val="30000"/>
      </a:spcBef>
      <a:spcAft>
        <a:spcPct val="0"/>
      </a:spcAft>
      <a:defRPr sz="1200" kern="1200">
        <a:solidFill>
          <a:schemeClr val="tx1"/>
        </a:solidFill>
        <a:latin typeface="Times" charset="0"/>
        <a:ea typeface="+mn-ea"/>
        <a:cs typeface="+mn-cs"/>
      </a:defRPr>
    </a:lvl3pPr>
    <a:lvl4pPr marL="1371600" algn="l" rtl="0" eaLnBrk="0" fontAlgn="base" hangingPunct="0">
      <a:spcBef>
        <a:spcPct val="30000"/>
      </a:spcBef>
      <a:spcAft>
        <a:spcPct val="0"/>
      </a:spcAft>
      <a:defRPr sz="1200" kern="1200">
        <a:solidFill>
          <a:schemeClr val="tx1"/>
        </a:solidFill>
        <a:latin typeface="Times" charset="0"/>
        <a:ea typeface="+mn-ea"/>
        <a:cs typeface="+mn-cs"/>
      </a:defRPr>
    </a:lvl4pPr>
    <a:lvl5pPr marL="1828800" algn="l" rtl="0" eaLnBrk="0" fontAlgn="base" hangingPunct="0">
      <a:spcBef>
        <a:spcPct val="30000"/>
      </a:spcBef>
      <a:spcAft>
        <a:spcPct val="0"/>
      </a:spcAft>
      <a:defRPr sz="1200" kern="1200">
        <a:solidFill>
          <a:schemeClr val="tx1"/>
        </a:solidFill>
        <a:latin typeface="Times"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FE4D43BA-B3B7-42B0-8FFD-B447BACCA213}" type="slidenum">
              <a:rPr lang="en-US"/>
              <a:pPr/>
              <a:t>2</a:t>
            </a:fld>
            <a:endParaRPr lang="en-US"/>
          </a:p>
        </p:txBody>
      </p:sp>
      <p:sp>
        <p:nvSpPr>
          <p:cNvPr id="36866" name="Rectangle 2"/>
          <p:cNvSpPr>
            <a:spLocks noGrp="1" noRot="1" noChangeAspect="1" noChangeArrowheads="1" noTextEdit="1"/>
          </p:cNvSpPr>
          <p:nvPr>
            <p:ph type="sldImg"/>
          </p:nvPr>
        </p:nvSpPr>
        <p:spPr>
          <a:ln/>
        </p:spPr>
      </p:sp>
      <p:sp>
        <p:nvSpPr>
          <p:cNvPr id="36867" name="Rectangle 3"/>
          <p:cNvSpPr>
            <a:spLocks noGrp="1" noChangeArrowheads="1"/>
          </p:cNvSpPr>
          <p:nvPr>
            <p:ph type="body" idx="1"/>
          </p:nvPr>
        </p:nvSpPr>
        <p:spPr/>
        <p:txBody>
          <a:bodyPr/>
          <a:lstStyle/>
          <a:p>
            <a:endParaRPr lang="es-MX"/>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7F7055AF-834D-4E6C-AA79-C6735B2BC800}" type="slidenum">
              <a:rPr lang="en-US"/>
              <a:pPr/>
              <a:t>3</a:t>
            </a:fld>
            <a:endParaRPr lang="en-US"/>
          </a:p>
        </p:txBody>
      </p:sp>
      <p:sp>
        <p:nvSpPr>
          <p:cNvPr id="4096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096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s-MX"/>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pic>
        <p:nvPicPr>
          <p:cNvPr id="4132" name="Picture 36" descr="Blueblack1.jpg                                                 00007A25Macintosh HD                   ABA78158:"/>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4099" name="Rectangle 3"/>
          <p:cNvSpPr>
            <a:spLocks noGrp="1" noChangeArrowheads="1"/>
          </p:cNvSpPr>
          <p:nvPr>
            <p:ph type="ctrTitle"/>
          </p:nvPr>
        </p:nvSpPr>
        <p:spPr>
          <a:xfrm>
            <a:off x="304800" y="1714500"/>
            <a:ext cx="5562600" cy="1143000"/>
          </a:xfrm>
        </p:spPr>
        <p:txBody>
          <a:bodyPr/>
          <a:lstStyle>
            <a:lvl1pPr>
              <a:defRPr sz="3500">
                <a:solidFill>
                  <a:schemeClr val="folHlink"/>
                </a:solidFill>
              </a:defRPr>
            </a:lvl1pPr>
          </a:lstStyle>
          <a:p>
            <a:r>
              <a:rPr lang="es-ES" smtClean="0"/>
              <a:t>Haga clic para modificar el estilo de título del patrón</a:t>
            </a:r>
            <a:endParaRPr lang="en-US"/>
          </a:p>
        </p:txBody>
      </p:sp>
      <p:sp>
        <p:nvSpPr>
          <p:cNvPr id="4100" name="Rectangle 4"/>
          <p:cNvSpPr>
            <a:spLocks noGrp="1" noChangeArrowheads="1"/>
          </p:cNvSpPr>
          <p:nvPr>
            <p:ph type="subTitle" idx="1"/>
          </p:nvPr>
        </p:nvSpPr>
        <p:spPr>
          <a:xfrm>
            <a:off x="342900" y="2527300"/>
            <a:ext cx="5283200" cy="457200"/>
          </a:xfrm>
        </p:spPr>
        <p:txBody>
          <a:bodyPr/>
          <a:lstStyle>
            <a:lvl1pPr marL="0" indent="0">
              <a:buFontTx/>
              <a:buNone/>
              <a:defRPr sz="1700">
                <a:solidFill>
                  <a:schemeClr val="accent2"/>
                </a:solidFill>
              </a:defRPr>
            </a:lvl1pPr>
          </a:lstStyle>
          <a:p>
            <a:r>
              <a:rPr lang="es-ES" smtClean="0"/>
              <a:t>Haga clic para modificar el estilo de subtítulo del patrón</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MX"/>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MX"/>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smtClean="0"/>
              <a:t>Haga clic para modificar el estilo de texto del patrón</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MX"/>
          </a:p>
        </p:txBody>
      </p:sp>
      <p:sp>
        <p:nvSpPr>
          <p:cNvPr id="3" name="2 Marcador de contenido"/>
          <p:cNvSpPr>
            <a:spLocks noGrp="1"/>
          </p:cNvSpPr>
          <p:nvPr>
            <p:ph sz="half" idx="1"/>
          </p:nvPr>
        </p:nvSpPr>
        <p:spPr>
          <a:xfrm>
            <a:off x="1600200" y="1257300"/>
            <a:ext cx="2400300" cy="4991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3 Marcador de contenido"/>
          <p:cNvSpPr>
            <a:spLocks noGrp="1"/>
          </p:cNvSpPr>
          <p:nvPr>
            <p:ph sz="half" idx="2"/>
          </p:nvPr>
        </p:nvSpPr>
        <p:spPr>
          <a:xfrm>
            <a:off x="4152900" y="1257300"/>
            <a:ext cx="2400300" cy="4991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lvl1pPr>
              <a:defRPr/>
            </a:lvl1pPr>
          </a:lstStyle>
          <a:p>
            <a:r>
              <a:rPr lang="es-ES" smtClean="0"/>
              <a:t>Haga clic para modificar el estilo de título del patrón</a:t>
            </a:r>
            <a:endParaRPr lang="es-MX"/>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MX"/>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MX"/>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MX"/>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smtClean="0"/>
              <a:t>Haga clic en el icono para agregar una imagen</a:t>
            </a:r>
            <a:endParaRPr lang="es-MX"/>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MX"/>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5070475" y="482600"/>
            <a:ext cx="1482725" cy="5765800"/>
          </a:xfrm>
        </p:spPr>
        <p:txBody>
          <a:bodyPr vert="eaVert"/>
          <a:lstStyle/>
          <a:p>
            <a:r>
              <a:rPr lang="es-ES" smtClean="0"/>
              <a:t>Haga clic para modificar el estilo de título del patrón</a:t>
            </a:r>
            <a:endParaRPr lang="es-MX"/>
          </a:p>
        </p:txBody>
      </p:sp>
      <p:sp>
        <p:nvSpPr>
          <p:cNvPr id="3" name="2 Marcador de texto vertical"/>
          <p:cNvSpPr>
            <a:spLocks noGrp="1"/>
          </p:cNvSpPr>
          <p:nvPr>
            <p:ph type="body" orient="vert" idx="1"/>
          </p:nvPr>
        </p:nvSpPr>
        <p:spPr>
          <a:xfrm>
            <a:off x="622300" y="482600"/>
            <a:ext cx="4295775" cy="5765800"/>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61" name="Picture 37" descr="blueblack2.jpg                                                 00007A25Macintosh HD                   ABA78158:"/>
          <p:cNvPicPr>
            <a:picLocks noChangeAspect="1" noChangeArrowheads="1"/>
          </p:cNvPicPr>
          <p:nvPr/>
        </p:nvPicPr>
        <p:blipFill>
          <a:blip r:embed="rId13" cstate="print"/>
          <a:srcRect/>
          <a:stretch>
            <a:fillRect/>
          </a:stretch>
        </p:blipFill>
        <p:spPr bwMode="auto">
          <a:xfrm>
            <a:off x="0" y="0"/>
            <a:ext cx="9144000" cy="6858000"/>
          </a:xfrm>
          <a:prstGeom prst="rect">
            <a:avLst/>
          </a:prstGeom>
          <a:noFill/>
        </p:spPr>
      </p:pic>
      <p:sp>
        <p:nvSpPr>
          <p:cNvPr id="1062" name="Rectangle 38"/>
          <p:cNvSpPr>
            <a:spLocks noChangeArrowheads="1"/>
          </p:cNvSpPr>
          <p:nvPr/>
        </p:nvSpPr>
        <p:spPr bwMode="auto">
          <a:xfrm>
            <a:off x="0" y="5791200"/>
            <a:ext cx="914400" cy="533400"/>
          </a:xfrm>
          <a:prstGeom prst="rect">
            <a:avLst/>
          </a:prstGeom>
          <a:noFill/>
          <a:ln w="9525">
            <a:noFill/>
            <a:miter lim="800000"/>
            <a:headEnd/>
            <a:tailEnd/>
          </a:ln>
          <a:effectLst/>
        </p:spPr>
        <p:txBody>
          <a:bodyPr/>
          <a:lstStyle/>
          <a:p>
            <a:pPr algn="r"/>
            <a:fld id="{B02C6975-031C-4D62-9D6E-B44D59C77CDB}" type="slidenum">
              <a:rPr lang="en-US" sz="1800">
                <a:solidFill>
                  <a:schemeClr val="hlink"/>
                </a:solidFill>
                <a:latin typeface="Verdana" charset="0"/>
              </a:rPr>
              <a:pPr algn="r"/>
              <a:t>‹Nº›</a:t>
            </a:fld>
            <a:endParaRPr lang="en-US" sz="1400">
              <a:solidFill>
                <a:schemeClr val="tx2"/>
              </a:solidFill>
            </a:endParaRPr>
          </a:p>
        </p:txBody>
      </p:sp>
      <p:sp>
        <p:nvSpPr>
          <p:cNvPr id="1026" name="Rectangle 2"/>
          <p:cNvSpPr>
            <a:spLocks noGrp="1" noChangeArrowheads="1"/>
          </p:cNvSpPr>
          <p:nvPr>
            <p:ph type="title"/>
          </p:nvPr>
        </p:nvSpPr>
        <p:spPr bwMode="auto">
          <a:xfrm>
            <a:off x="622300" y="482600"/>
            <a:ext cx="4670425" cy="9144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s-ES" smtClean="0"/>
              <a:t>Haga clic para modificar el estilo de título del patrón</a:t>
            </a:r>
            <a:endParaRPr lang="en-US" smtClean="0"/>
          </a:p>
        </p:txBody>
      </p:sp>
      <p:sp>
        <p:nvSpPr>
          <p:cNvPr id="1027" name="Rectangle 3"/>
          <p:cNvSpPr>
            <a:spLocks noGrp="1" noChangeArrowheads="1"/>
          </p:cNvSpPr>
          <p:nvPr>
            <p:ph type="body" idx="1"/>
          </p:nvPr>
        </p:nvSpPr>
        <p:spPr bwMode="auto">
          <a:xfrm>
            <a:off x="1600200" y="1257300"/>
            <a:ext cx="4953000" cy="4991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smtClean="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fontAlgn="base" hangingPunct="1">
        <a:spcBef>
          <a:spcPct val="0"/>
        </a:spcBef>
        <a:spcAft>
          <a:spcPct val="0"/>
        </a:spcAft>
        <a:defRPr sz="3000" b="1">
          <a:solidFill>
            <a:schemeClr val="bg1"/>
          </a:solidFill>
          <a:latin typeface="+mj-lt"/>
          <a:ea typeface="+mj-ea"/>
          <a:cs typeface="+mj-cs"/>
        </a:defRPr>
      </a:lvl1pPr>
      <a:lvl2pPr algn="l" rtl="0" eaLnBrk="1" fontAlgn="base" hangingPunct="1">
        <a:spcBef>
          <a:spcPct val="0"/>
        </a:spcBef>
        <a:spcAft>
          <a:spcPct val="0"/>
        </a:spcAft>
        <a:defRPr sz="3000" b="1">
          <a:solidFill>
            <a:schemeClr val="bg1"/>
          </a:solidFill>
          <a:latin typeface="Verdana" charset="0"/>
        </a:defRPr>
      </a:lvl2pPr>
      <a:lvl3pPr algn="l" rtl="0" eaLnBrk="1" fontAlgn="base" hangingPunct="1">
        <a:spcBef>
          <a:spcPct val="0"/>
        </a:spcBef>
        <a:spcAft>
          <a:spcPct val="0"/>
        </a:spcAft>
        <a:defRPr sz="3000" b="1">
          <a:solidFill>
            <a:schemeClr val="bg1"/>
          </a:solidFill>
          <a:latin typeface="Verdana" charset="0"/>
        </a:defRPr>
      </a:lvl3pPr>
      <a:lvl4pPr algn="l" rtl="0" eaLnBrk="1" fontAlgn="base" hangingPunct="1">
        <a:spcBef>
          <a:spcPct val="0"/>
        </a:spcBef>
        <a:spcAft>
          <a:spcPct val="0"/>
        </a:spcAft>
        <a:defRPr sz="3000" b="1">
          <a:solidFill>
            <a:schemeClr val="bg1"/>
          </a:solidFill>
          <a:latin typeface="Verdana" charset="0"/>
        </a:defRPr>
      </a:lvl4pPr>
      <a:lvl5pPr algn="l" rtl="0" eaLnBrk="1" fontAlgn="base" hangingPunct="1">
        <a:spcBef>
          <a:spcPct val="0"/>
        </a:spcBef>
        <a:spcAft>
          <a:spcPct val="0"/>
        </a:spcAft>
        <a:defRPr sz="3000" b="1">
          <a:solidFill>
            <a:schemeClr val="bg1"/>
          </a:solidFill>
          <a:latin typeface="Verdana" charset="0"/>
        </a:defRPr>
      </a:lvl5pPr>
      <a:lvl6pPr marL="457200" algn="l" rtl="0" eaLnBrk="1" fontAlgn="base" hangingPunct="1">
        <a:spcBef>
          <a:spcPct val="0"/>
        </a:spcBef>
        <a:spcAft>
          <a:spcPct val="0"/>
        </a:spcAft>
        <a:defRPr sz="3000" b="1">
          <a:solidFill>
            <a:schemeClr val="bg1"/>
          </a:solidFill>
          <a:latin typeface="Verdana" charset="0"/>
        </a:defRPr>
      </a:lvl6pPr>
      <a:lvl7pPr marL="914400" algn="l" rtl="0" eaLnBrk="1" fontAlgn="base" hangingPunct="1">
        <a:spcBef>
          <a:spcPct val="0"/>
        </a:spcBef>
        <a:spcAft>
          <a:spcPct val="0"/>
        </a:spcAft>
        <a:defRPr sz="3000" b="1">
          <a:solidFill>
            <a:schemeClr val="bg1"/>
          </a:solidFill>
          <a:latin typeface="Verdana" charset="0"/>
        </a:defRPr>
      </a:lvl7pPr>
      <a:lvl8pPr marL="1371600" algn="l" rtl="0" eaLnBrk="1" fontAlgn="base" hangingPunct="1">
        <a:spcBef>
          <a:spcPct val="0"/>
        </a:spcBef>
        <a:spcAft>
          <a:spcPct val="0"/>
        </a:spcAft>
        <a:defRPr sz="3000" b="1">
          <a:solidFill>
            <a:schemeClr val="bg1"/>
          </a:solidFill>
          <a:latin typeface="Verdana" charset="0"/>
        </a:defRPr>
      </a:lvl8pPr>
      <a:lvl9pPr marL="1828800" algn="l" rtl="0" eaLnBrk="1" fontAlgn="base" hangingPunct="1">
        <a:spcBef>
          <a:spcPct val="0"/>
        </a:spcBef>
        <a:spcAft>
          <a:spcPct val="0"/>
        </a:spcAft>
        <a:defRPr sz="3000" b="1">
          <a:solidFill>
            <a:schemeClr val="bg1"/>
          </a:solidFill>
          <a:latin typeface="Verdana" charset="0"/>
        </a:defRPr>
      </a:lvl9pPr>
    </p:titleStyle>
    <p:bodyStyle>
      <a:lvl1pPr marL="342900" indent="-342900" algn="l" rtl="0" eaLnBrk="1" fontAlgn="base" hangingPunct="1">
        <a:spcBef>
          <a:spcPct val="20000"/>
        </a:spcBef>
        <a:spcAft>
          <a:spcPct val="0"/>
        </a:spcAft>
        <a:buClr>
          <a:schemeClr val="hlink"/>
        </a:buClr>
        <a:buChar char="&gt;"/>
        <a:defRPr sz="2100">
          <a:solidFill>
            <a:schemeClr val="folHlink"/>
          </a:solidFill>
          <a:latin typeface="+mn-lt"/>
          <a:ea typeface="+mn-ea"/>
          <a:cs typeface="+mn-cs"/>
        </a:defRPr>
      </a:lvl1pPr>
      <a:lvl2pPr marL="742950" indent="-285750" algn="l" rtl="0" eaLnBrk="1" fontAlgn="base" hangingPunct="1">
        <a:spcBef>
          <a:spcPct val="20000"/>
        </a:spcBef>
        <a:spcAft>
          <a:spcPct val="0"/>
        </a:spcAft>
        <a:buClr>
          <a:schemeClr val="accent2"/>
        </a:buClr>
        <a:buSzPct val="120000"/>
        <a:buChar char=" "/>
        <a:defRPr sz="1500">
          <a:solidFill>
            <a:schemeClr val="accent2"/>
          </a:solidFill>
          <a:latin typeface="Times" charset="0"/>
        </a:defRPr>
      </a:lvl2pPr>
      <a:lvl3pPr marL="1143000" indent="-228600" algn="l" rtl="0" eaLnBrk="1" fontAlgn="base" hangingPunct="1">
        <a:spcBef>
          <a:spcPct val="20000"/>
        </a:spcBef>
        <a:spcAft>
          <a:spcPct val="0"/>
        </a:spcAft>
        <a:buSzPct val="75000"/>
        <a:buChar char="•"/>
        <a:defRPr sz="1600" b="1">
          <a:solidFill>
            <a:schemeClr val="accent2"/>
          </a:solidFill>
          <a:latin typeface="+mn-lt"/>
        </a:defRPr>
      </a:lvl3pPr>
      <a:lvl4pPr marL="1600200" indent="-228600" algn="l" rtl="0" eaLnBrk="1" fontAlgn="base" hangingPunct="1">
        <a:spcBef>
          <a:spcPct val="20000"/>
        </a:spcBef>
        <a:spcAft>
          <a:spcPct val="0"/>
        </a:spcAft>
        <a:buChar char="&gt;"/>
        <a:defRPr sz="1600">
          <a:solidFill>
            <a:schemeClr val="tx1"/>
          </a:solidFill>
          <a:latin typeface="+mn-lt"/>
        </a:defRPr>
      </a:lvl4pPr>
      <a:lvl5pPr marL="2057400" indent="-228600" algn="l" rtl="0" eaLnBrk="1" fontAlgn="base" hangingPunct="1">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sz="1600">
          <a:solidFill>
            <a:schemeClr val="tx1"/>
          </a:solidFill>
          <a:latin typeface="+mn-lt"/>
        </a:defRPr>
      </a:lvl6pPr>
      <a:lvl7pPr marL="2971800" indent="-228600" algn="l" rtl="0" eaLnBrk="1" fontAlgn="base" hangingPunct="1">
        <a:spcBef>
          <a:spcPct val="20000"/>
        </a:spcBef>
        <a:spcAft>
          <a:spcPct val="0"/>
        </a:spcAft>
        <a:buChar char="»"/>
        <a:defRPr sz="1600">
          <a:solidFill>
            <a:schemeClr val="tx1"/>
          </a:solidFill>
          <a:latin typeface="+mn-lt"/>
        </a:defRPr>
      </a:lvl7pPr>
      <a:lvl8pPr marL="3429000" indent="-228600" algn="l" rtl="0" eaLnBrk="1" fontAlgn="base" hangingPunct="1">
        <a:spcBef>
          <a:spcPct val="20000"/>
        </a:spcBef>
        <a:spcAft>
          <a:spcPct val="0"/>
        </a:spcAft>
        <a:buChar char="»"/>
        <a:defRPr sz="1600">
          <a:solidFill>
            <a:schemeClr val="tx1"/>
          </a:solidFill>
          <a:latin typeface="+mn-lt"/>
        </a:defRPr>
      </a:lvl8pPr>
      <a:lvl9pPr marL="3886200" indent="-228600" algn="l" rtl="0" eaLnBrk="1" fontAlgn="base" hangingPunct="1">
        <a:spcBef>
          <a:spcPct val="20000"/>
        </a:spcBef>
        <a:spcAft>
          <a:spcPct val="0"/>
        </a:spcAft>
        <a:buChar char="»"/>
        <a:defRPr sz="1600">
          <a:solidFill>
            <a:schemeClr val="tx1"/>
          </a:solidFill>
          <a:latin typeface="+mn-lt"/>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profejc.files.wordpress.com/2008/05/pseint1.jpg"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pseint.sourceforge.net/"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ctrTitle"/>
          </p:nvPr>
        </p:nvSpPr>
        <p:spPr>
          <a:xfrm>
            <a:off x="482600" y="1689100"/>
            <a:ext cx="5562600" cy="1143000"/>
          </a:xfrm>
        </p:spPr>
        <p:txBody>
          <a:bodyPr/>
          <a:lstStyle/>
          <a:p>
            <a:r>
              <a:rPr lang="en-US" sz="6000" smtClean="0"/>
              <a:t>PSeInt</a:t>
            </a:r>
            <a:r>
              <a:rPr lang="en-US" smtClean="0"/>
              <a:t> </a:t>
            </a:r>
            <a:endParaRPr lang="en-US" dirty="0"/>
          </a:p>
        </p:txBody>
      </p:sp>
      <p:sp>
        <p:nvSpPr>
          <p:cNvPr id="29699" name="Rectangle 3"/>
          <p:cNvSpPr>
            <a:spLocks noGrp="1" noChangeArrowheads="1"/>
          </p:cNvSpPr>
          <p:nvPr>
            <p:ph type="subTitle" idx="1"/>
          </p:nvPr>
        </p:nvSpPr>
        <p:spPr>
          <a:xfrm>
            <a:off x="533400" y="2827784"/>
            <a:ext cx="5410200" cy="457200"/>
          </a:xfrm>
        </p:spPr>
        <p:txBody>
          <a:bodyPr/>
          <a:lstStyle/>
          <a:p>
            <a:r>
              <a:rPr lang="en-US" dirty="0"/>
              <a:t>&gt; </a:t>
            </a:r>
            <a:r>
              <a:rPr lang="es-MX" sz="2400" b="1" dirty="0" err="1" smtClean="0"/>
              <a:t>PseInt</a:t>
            </a:r>
            <a:r>
              <a:rPr lang="es-MX" sz="2400" dirty="0" smtClean="0"/>
              <a:t> (</a:t>
            </a:r>
            <a:r>
              <a:rPr lang="es-MX" sz="2400" b="1" dirty="0" err="1" smtClean="0"/>
              <a:t>Pse</a:t>
            </a:r>
            <a:r>
              <a:rPr lang="es-MX" sz="2400" dirty="0" err="1" smtClean="0"/>
              <a:t>udo</a:t>
            </a:r>
            <a:r>
              <a:rPr lang="es-MX" sz="2400" dirty="0" smtClean="0"/>
              <a:t> </a:t>
            </a:r>
            <a:r>
              <a:rPr lang="es-MX" sz="2400" b="1" dirty="0" smtClean="0"/>
              <a:t>Int</a:t>
            </a:r>
            <a:r>
              <a:rPr lang="es-MX" sz="2400" dirty="0" smtClean="0"/>
              <a:t>érprete</a:t>
            </a:r>
            <a:r>
              <a:rPr lang="es-MX" dirty="0" smtClean="0"/>
              <a:t>) </a:t>
            </a:r>
            <a:endParaRPr lang="en-US" dirty="0"/>
          </a:p>
        </p:txBody>
      </p:sp>
      <p:pic>
        <p:nvPicPr>
          <p:cNvPr id="57346" name="Picture 2" descr="Ver imagen original">
            <a:hlinkClick r:id="rId2"/>
          </p:cNvPr>
          <p:cNvPicPr>
            <a:picLocks noChangeAspect="1" noChangeArrowheads="1"/>
          </p:cNvPicPr>
          <p:nvPr/>
        </p:nvPicPr>
        <p:blipFill>
          <a:blip r:embed="rId3" cstate="print"/>
          <a:srcRect/>
          <a:stretch>
            <a:fillRect/>
          </a:stretch>
        </p:blipFill>
        <p:spPr bwMode="auto">
          <a:xfrm>
            <a:off x="251520" y="2780928"/>
            <a:ext cx="609600" cy="609600"/>
          </a:xfrm>
          <a:prstGeom prst="rect">
            <a:avLst/>
          </a:prstGeom>
          <a:noFill/>
        </p:spPr>
      </p:pic>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685800" y="304800"/>
            <a:ext cx="5105400" cy="1143000"/>
          </a:xfrm>
        </p:spPr>
        <p:txBody>
          <a:bodyPr/>
          <a:lstStyle/>
          <a:p>
            <a:r>
              <a:rPr lang="en-US" sz="2700"/>
              <a:t>Earning Projections</a:t>
            </a:r>
            <a:endParaRPr lang="en-US">
              <a:solidFill>
                <a:schemeClr val="accent2"/>
              </a:solidFill>
            </a:endParaRPr>
          </a:p>
        </p:txBody>
      </p:sp>
      <p:sp>
        <p:nvSpPr>
          <p:cNvPr id="30723" name="Rectangle 3"/>
          <p:cNvSpPr>
            <a:spLocks noGrp="1" noChangeArrowheads="1"/>
          </p:cNvSpPr>
          <p:nvPr>
            <p:ph type="body" idx="1"/>
          </p:nvPr>
        </p:nvSpPr>
        <p:spPr>
          <a:xfrm>
            <a:off x="323528" y="1447800"/>
            <a:ext cx="7560840" cy="4357464"/>
          </a:xfrm>
        </p:spPr>
        <p:txBody>
          <a:bodyPr/>
          <a:lstStyle/>
          <a:p>
            <a:pPr algn="just">
              <a:lnSpc>
                <a:spcPct val="150000"/>
              </a:lnSpc>
              <a:buNone/>
            </a:pPr>
            <a:r>
              <a:rPr lang="es-MX" dirty="0" smtClean="0">
                <a:solidFill>
                  <a:schemeClr val="tx1"/>
                </a:solidFill>
              </a:rPr>
              <a:t>	Es un Entorno de Desarrollo Integrado (IDE, por sus siglas en inglés) para </a:t>
            </a:r>
            <a:r>
              <a:rPr lang="es-MX" b="1" dirty="0" err="1" smtClean="0">
                <a:solidFill>
                  <a:schemeClr val="tx1"/>
                </a:solidFill>
              </a:rPr>
              <a:t>PseudoCódigo</a:t>
            </a:r>
            <a:r>
              <a:rPr lang="es-MX" dirty="0" smtClean="0">
                <a:solidFill>
                  <a:schemeClr val="tx1"/>
                </a:solidFill>
              </a:rPr>
              <a:t>, un lenguaje de programación imperativa simple y en español.</a:t>
            </a:r>
          </a:p>
          <a:p>
            <a:pPr algn="just">
              <a:lnSpc>
                <a:spcPct val="150000"/>
              </a:lnSpc>
              <a:buNone/>
            </a:pPr>
            <a:r>
              <a:rPr lang="es-MX" dirty="0" smtClean="0">
                <a:solidFill>
                  <a:schemeClr val="tx1"/>
                </a:solidFill>
              </a:rPr>
              <a:t> </a:t>
            </a:r>
          </a:p>
          <a:p>
            <a:pPr algn="just">
              <a:lnSpc>
                <a:spcPct val="150000"/>
              </a:lnSpc>
            </a:pPr>
            <a:r>
              <a:rPr lang="es-MX" dirty="0" smtClean="0">
                <a:solidFill>
                  <a:schemeClr val="tx1"/>
                </a:solidFill>
              </a:rPr>
              <a:t>Es decir, </a:t>
            </a:r>
            <a:r>
              <a:rPr lang="es-MX" b="1" dirty="0" err="1" smtClean="0">
                <a:solidFill>
                  <a:schemeClr val="tx1"/>
                </a:solidFill>
              </a:rPr>
              <a:t>PseInt</a:t>
            </a:r>
            <a:r>
              <a:rPr lang="es-MX" dirty="0" smtClean="0">
                <a:solidFill>
                  <a:schemeClr val="tx1"/>
                </a:solidFill>
              </a:rPr>
              <a:t> es un editor e intérprete de programas escritos en </a:t>
            </a:r>
            <a:r>
              <a:rPr lang="es-MX" dirty="0" err="1" smtClean="0">
                <a:solidFill>
                  <a:schemeClr val="tx1"/>
                </a:solidFill>
              </a:rPr>
              <a:t>PseudoCódigo</a:t>
            </a:r>
            <a:r>
              <a:rPr lang="es-MX" dirty="0" smtClean="0">
                <a:solidFill>
                  <a:schemeClr val="tx1"/>
                </a:solidFill>
              </a:rPr>
              <a:t>. Su interfaz gráfica permite crear, almacenar, ejecutar y corregir fácilmente programas en </a:t>
            </a:r>
            <a:r>
              <a:rPr lang="es-MX" dirty="0" err="1" smtClean="0">
                <a:solidFill>
                  <a:schemeClr val="tx1"/>
                </a:solidFill>
              </a:rPr>
              <a:t>PseudoCódigo</a:t>
            </a:r>
            <a:r>
              <a:rPr lang="es-MX" dirty="0" smtClean="0">
                <a:solidFill>
                  <a:schemeClr val="tx1"/>
                </a:solidFill>
              </a:rPr>
              <a:t>. </a:t>
            </a:r>
            <a:endParaRPr lang="en-US" sz="1300" dirty="0">
              <a:solidFill>
                <a:schemeClr val="tx1"/>
              </a:solidFill>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39939" name="Rectangle 3"/>
          <p:cNvSpPr>
            <a:spLocks noChangeArrowheads="1"/>
          </p:cNvSpPr>
          <p:nvPr/>
        </p:nvSpPr>
        <p:spPr bwMode="auto">
          <a:xfrm>
            <a:off x="7772400" y="5867400"/>
            <a:ext cx="914400" cy="533400"/>
          </a:xfrm>
          <a:prstGeom prst="rect">
            <a:avLst/>
          </a:prstGeom>
          <a:noFill/>
          <a:ln w="9525">
            <a:noFill/>
            <a:miter lim="800000"/>
            <a:headEnd/>
            <a:tailEnd/>
          </a:ln>
          <a:effectLst/>
        </p:spPr>
        <p:txBody>
          <a:bodyPr/>
          <a:lstStyle/>
          <a:p>
            <a:pPr algn="r"/>
            <a:fld id="{3BAD27C8-CC49-4A54-B44E-DAACF5373057}" type="slidenum">
              <a:rPr lang="en-US" sz="1800">
                <a:solidFill>
                  <a:schemeClr val="hlink"/>
                </a:solidFill>
                <a:latin typeface="Verdana" charset="0"/>
              </a:rPr>
              <a:pPr algn="r"/>
              <a:t>3</a:t>
            </a:fld>
            <a:endParaRPr lang="en-US" sz="1400">
              <a:solidFill>
                <a:schemeClr val="tx2"/>
              </a:solidFill>
            </a:endParaRPr>
          </a:p>
        </p:txBody>
      </p:sp>
      <p:sp>
        <p:nvSpPr>
          <p:cNvPr id="39941" name="Rectangle 5"/>
          <p:cNvSpPr>
            <a:spLocks noGrp="1" noChangeArrowheads="1"/>
          </p:cNvSpPr>
          <p:nvPr>
            <p:ph type="body" idx="1"/>
          </p:nvPr>
        </p:nvSpPr>
        <p:spPr>
          <a:xfrm>
            <a:off x="2051720" y="476672"/>
            <a:ext cx="6336704" cy="5472608"/>
          </a:xfrm>
        </p:spPr>
        <p:txBody>
          <a:bodyPr/>
          <a:lstStyle/>
          <a:p>
            <a:pPr algn="just">
              <a:lnSpc>
                <a:spcPct val="150000"/>
              </a:lnSpc>
            </a:pPr>
            <a:r>
              <a:rPr lang="es-MX" dirty="0" smtClean="0">
                <a:solidFill>
                  <a:schemeClr val="accent4">
                    <a:lumMod val="85000"/>
                    <a:lumOff val="15000"/>
                  </a:schemeClr>
                </a:solidFill>
              </a:rPr>
              <a:t>La sencillez del lenguaje </a:t>
            </a:r>
            <a:r>
              <a:rPr lang="es-MX" dirty="0" err="1" smtClean="0">
                <a:solidFill>
                  <a:schemeClr val="accent4">
                    <a:lumMod val="85000"/>
                    <a:lumOff val="15000"/>
                  </a:schemeClr>
                </a:solidFill>
              </a:rPr>
              <a:t>PseudoCódigo</a:t>
            </a:r>
            <a:r>
              <a:rPr lang="es-MX" dirty="0" smtClean="0">
                <a:solidFill>
                  <a:schemeClr val="accent4">
                    <a:lumMod val="85000"/>
                    <a:lumOff val="15000"/>
                  </a:schemeClr>
                </a:solidFill>
              </a:rPr>
              <a:t> lo hacen ideal para la enseñanza de la programación. Permite escribir programas con instrucciones condicionales (</a:t>
            </a:r>
            <a:r>
              <a:rPr lang="es-MX" b="1" dirty="0" smtClean="0">
                <a:solidFill>
                  <a:schemeClr val="accent4">
                    <a:lumMod val="85000"/>
                    <a:lumOff val="15000"/>
                  </a:schemeClr>
                </a:solidFill>
              </a:rPr>
              <a:t>Si-Entonces-Sino</a:t>
            </a:r>
            <a:r>
              <a:rPr lang="es-MX" dirty="0" smtClean="0">
                <a:solidFill>
                  <a:schemeClr val="accent4">
                    <a:lumMod val="85000"/>
                    <a:lumOff val="15000"/>
                  </a:schemeClr>
                </a:solidFill>
              </a:rPr>
              <a:t>, </a:t>
            </a:r>
            <a:r>
              <a:rPr lang="es-MX" b="1" dirty="0" err="1" smtClean="0">
                <a:solidFill>
                  <a:schemeClr val="accent4">
                    <a:lumMod val="85000"/>
                    <a:lumOff val="15000"/>
                  </a:schemeClr>
                </a:solidFill>
              </a:rPr>
              <a:t>Segun</a:t>
            </a:r>
            <a:r>
              <a:rPr lang="es-MX" dirty="0" smtClean="0">
                <a:solidFill>
                  <a:schemeClr val="accent4">
                    <a:lumMod val="85000"/>
                    <a:lumOff val="15000"/>
                  </a:schemeClr>
                </a:solidFill>
              </a:rPr>
              <a:t>) y ciclos (</a:t>
            </a:r>
            <a:r>
              <a:rPr lang="es-MX" b="1" dirty="0" smtClean="0">
                <a:solidFill>
                  <a:schemeClr val="accent4">
                    <a:lumMod val="85000"/>
                    <a:lumOff val="15000"/>
                  </a:schemeClr>
                </a:solidFill>
              </a:rPr>
              <a:t>Mientras</a:t>
            </a:r>
            <a:r>
              <a:rPr lang="es-MX" dirty="0" smtClean="0">
                <a:solidFill>
                  <a:schemeClr val="accent4">
                    <a:lumMod val="85000"/>
                    <a:lumOff val="15000"/>
                  </a:schemeClr>
                </a:solidFill>
              </a:rPr>
              <a:t>, </a:t>
            </a:r>
            <a:r>
              <a:rPr lang="es-MX" b="1" dirty="0" smtClean="0">
                <a:solidFill>
                  <a:schemeClr val="accent4">
                    <a:lumMod val="85000"/>
                    <a:lumOff val="15000"/>
                  </a:schemeClr>
                </a:solidFill>
              </a:rPr>
              <a:t>Hasta Que</a:t>
            </a:r>
            <a:r>
              <a:rPr lang="es-MX" dirty="0" smtClean="0">
                <a:solidFill>
                  <a:schemeClr val="accent4">
                    <a:lumMod val="85000"/>
                    <a:lumOff val="15000"/>
                  </a:schemeClr>
                </a:solidFill>
              </a:rPr>
              <a:t>, </a:t>
            </a:r>
            <a:r>
              <a:rPr lang="es-MX" b="1" dirty="0" smtClean="0">
                <a:solidFill>
                  <a:schemeClr val="accent4">
                    <a:lumMod val="85000"/>
                    <a:lumOff val="15000"/>
                  </a:schemeClr>
                </a:solidFill>
              </a:rPr>
              <a:t>Para</a:t>
            </a:r>
            <a:r>
              <a:rPr lang="es-MX" dirty="0" smtClean="0">
                <a:solidFill>
                  <a:schemeClr val="accent4">
                    <a:lumMod val="85000"/>
                    <a:lumOff val="15000"/>
                  </a:schemeClr>
                </a:solidFill>
              </a:rPr>
              <a:t>), y también usar valores numéricos (números decimales), lógicos, caracteres y arreglos. También provee funciones de entrada/salida y algunas funciones matemáticas. </a:t>
            </a: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MX"/>
          </a:p>
        </p:txBody>
      </p:sp>
      <p:sp>
        <p:nvSpPr>
          <p:cNvPr id="3" name="2 Marcador de contenido"/>
          <p:cNvSpPr>
            <a:spLocks noGrp="1"/>
          </p:cNvSpPr>
          <p:nvPr>
            <p:ph idx="1"/>
          </p:nvPr>
        </p:nvSpPr>
        <p:spPr>
          <a:xfrm>
            <a:off x="179512" y="2348880"/>
            <a:ext cx="6840760" cy="3899520"/>
          </a:xfrm>
        </p:spPr>
        <p:txBody>
          <a:bodyPr/>
          <a:lstStyle/>
          <a:p>
            <a:pPr algn="just">
              <a:lnSpc>
                <a:spcPct val="150000"/>
              </a:lnSpc>
            </a:pPr>
            <a:r>
              <a:rPr lang="es-MX" dirty="0" smtClean="0">
                <a:solidFill>
                  <a:schemeClr val="accent4">
                    <a:lumMod val="85000"/>
                    <a:lumOff val="15000"/>
                  </a:schemeClr>
                </a:solidFill>
              </a:rPr>
              <a:t>Este proyecto se encuentra en </a:t>
            </a:r>
            <a:r>
              <a:rPr lang="es-MX" dirty="0" smtClean="0">
                <a:solidFill>
                  <a:schemeClr val="accent4">
                    <a:lumMod val="85000"/>
                    <a:lumOff val="15000"/>
                  </a:schemeClr>
                </a:solidFill>
                <a:hlinkClick r:id="rId2" tooltip="http://pseint.sourceforge.net"/>
              </a:rPr>
              <a:t>http://pseint.sourceforge.net</a:t>
            </a:r>
            <a:r>
              <a:rPr lang="es-MX" dirty="0" smtClean="0">
                <a:solidFill>
                  <a:schemeClr val="accent4">
                    <a:lumMod val="85000"/>
                    <a:lumOff val="15000"/>
                  </a:schemeClr>
                </a:solidFill>
              </a:rPr>
              <a:t> y de allí se puede descargar la última versión del programa, acceder al foro de soporte y también unirse al equipo de desarrollo del programa. </a:t>
            </a:r>
          </a:p>
          <a:p>
            <a:pPr lvl="1"/>
            <a:endParaRPr lang="en-US" sz="1300" dirty="0" smtClean="0"/>
          </a:p>
          <a:p>
            <a:endParaRPr lang="es-MX"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MX"/>
          </a:p>
        </p:txBody>
      </p:sp>
      <p:pic>
        <p:nvPicPr>
          <p:cNvPr id="45057" name="Picture 1"/>
          <p:cNvPicPr>
            <a:picLocks noChangeAspect="1" noChangeArrowheads="1"/>
          </p:cNvPicPr>
          <p:nvPr/>
        </p:nvPicPr>
        <p:blipFill>
          <a:blip r:embed="rId2" cstate="print"/>
          <a:srcRect l="9150" t="14175" r="28835" b="11171"/>
          <a:stretch>
            <a:fillRect/>
          </a:stretch>
        </p:blipFill>
        <p:spPr bwMode="auto">
          <a:xfrm>
            <a:off x="0" y="43244"/>
            <a:ext cx="9144000" cy="6770132"/>
          </a:xfrm>
          <a:prstGeom prst="rect">
            <a:avLst/>
          </a:prstGeom>
          <a:noFill/>
          <a:ln w="9525">
            <a:noFill/>
            <a:miter lim="800000"/>
            <a:headEnd/>
            <a:tailEnd/>
          </a:ln>
        </p:spPr>
      </p:pic>
      <p:sp>
        <p:nvSpPr>
          <p:cNvPr id="8" name="7 CuadroTexto"/>
          <p:cNvSpPr txBox="1"/>
          <p:nvPr/>
        </p:nvSpPr>
        <p:spPr>
          <a:xfrm>
            <a:off x="1043608" y="3573016"/>
            <a:ext cx="2376264" cy="1200329"/>
          </a:xfrm>
          <a:prstGeom prst="rect">
            <a:avLst/>
          </a:prstGeom>
          <a:noFill/>
        </p:spPr>
        <p:txBody>
          <a:bodyPr wrap="square" rtlCol="0">
            <a:spAutoFit/>
          </a:bodyPr>
          <a:lstStyle/>
          <a:p>
            <a:r>
              <a:rPr lang="es-MX" dirty="0" smtClean="0"/>
              <a:t>Área del editor de “acciones” del pseudocódigo</a:t>
            </a:r>
            <a:endParaRPr lang="es-MX" dirty="0"/>
          </a:p>
        </p:txBody>
      </p:sp>
      <p:sp>
        <p:nvSpPr>
          <p:cNvPr id="9" name="8 CuadroTexto"/>
          <p:cNvSpPr txBox="1"/>
          <p:nvPr/>
        </p:nvSpPr>
        <p:spPr>
          <a:xfrm>
            <a:off x="4067944" y="231031"/>
            <a:ext cx="1994457" cy="461665"/>
          </a:xfrm>
          <a:prstGeom prst="rect">
            <a:avLst/>
          </a:prstGeom>
          <a:noFill/>
        </p:spPr>
        <p:txBody>
          <a:bodyPr wrap="none" rtlCol="0">
            <a:spAutoFit/>
          </a:bodyPr>
          <a:lstStyle/>
          <a:p>
            <a:r>
              <a:rPr lang="es-MX" dirty="0" smtClean="0">
                <a:solidFill>
                  <a:srgbClr val="FF0000"/>
                </a:solidFill>
              </a:rPr>
              <a:t>Barra de menú</a:t>
            </a:r>
            <a:endParaRPr lang="es-MX" dirty="0">
              <a:solidFill>
                <a:srgbClr val="FF0000"/>
              </a:solidFill>
            </a:endParaRPr>
          </a:p>
        </p:txBody>
      </p:sp>
      <p:sp>
        <p:nvSpPr>
          <p:cNvPr id="10" name="9 CuadroTexto"/>
          <p:cNvSpPr txBox="1"/>
          <p:nvPr/>
        </p:nvSpPr>
        <p:spPr>
          <a:xfrm>
            <a:off x="6623720" y="519063"/>
            <a:ext cx="2556792" cy="461665"/>
          </a:xfrm>
          <a:prstGeom prst="rect">
            <a:avLst/>
          </a:prstGeom>
          <a:noFill/>
        </p:spPr>
        <p:txBody>
          <a:bodyPr wrap="square" rtlCol="0">
            <a:spAutoFit/>
          </a:bodyPr>
          <a:lstStyle/>
          <a:p>
            <a:r>
              <a:rPr lang="es-MX" dirty="0" smtClean="0">
                <a:solidFill>
                  <a:srgbClr val="FF0000"/>
                </a:solidFill>
              </a:rPr>
              <a:t>Panel de ejecución</a:t>
            </a:r>
            <a:endParaRPr lang="es-MX" dirty="0">
              <a:solidFill>
                <a:srgbClr val="FF0000"/>
              </a:solidFill>
            </a:endParaRPr>
          </a:p>
        </p:txBody>
      </p:sp>
      <p:sp>
        <p:nvSpPr>
          <p:cNvPr id="11" name="10 CuadroTexto"/>
          <p:cNvSpPr txBox="1"/>
          <p:nvPr/>
        </p:nvSpPr>
        <p:spPr>
          <a:xfrm>
            <a:off x="4211960" y="1844824"/>
            <a:ext cx="2762295" cy="830997"/>
          </a:xfrm>
          <a:prstGeom prst="rect">
            <a:avLst/>
          </a:prstGeom>
          <a:noFill/>
        </p:spPr>
        <p:txBody>
          <a:bodyPr wrap="none" rtlCol="0">
            <a:spAutoFit/>
          </a:bodyPr>
          <a:lstStyle/>
          <a:p>
            <a:r>
              <a:rPr lang="es-MX" dirty="0" smtClean="0"/>
              <a:t>Barra de comandos</a:t>
            </a:r>
          </a:p>
          <a:p>
            <a:r>
              <a:rPr lang="es-MX" dirty="0" smtClean="0"/>
              <a:t>Para definir acciones</a:t>
            </a:r>
            <a:endParaRPr lang="es-MX" dirty="0"/>
          </a:p>
        </p:txBody>
      </p:sp>
      <p:cxnSp>
        <p:nvCxnSpPr>
          <p:cNvPr id="13" name="12 Forma"/>
          <p:cNvCxnSpPr>
            <a:stCxn id="11" idx="2"/>
          </p:cNvCxnSpPr>
          <p:nvPr/>
        </p:nvCxnSpPr>
        <p:spPr bwMode="auto">
          <a:xfrm rot="16200000" flipH="1">
            <a:off x="6074117" y="2194812"/>
            <a:ext cx="969203" cy="1931220"/>
          </a:xfrm>
          <a:prstGeom prst="bentConnector2">
            <a:avLst/>
          </a:prstGeom>
          <a:solidFill>
            <a:schemeClr val="accent1"/>
          </a:solidFill>
          <a:ln w="9525" cap="flat" cmpd="sng" algn="ctr">
            <a:solidFill>
              <a:schemeClr val="tx1"/>
            </a:solidFill>
            <a:prstDash val="solid"/>
            <a:round/>
            <a:headEnd type="none" w="med" len="med"/>
            <a:tailEnd type="arrow"/>
          </a:ln>
          <a:effectLst/>
        </p:spPr>
      </p:cxnSp>
      <p:cxnSp>
        <p:nvCxnSpPr>
          <p:cNvPr id="15" name="14 Conector recto de flecha"/>
          <p:cNvCxnSpPr>
            <a:stCxn id="9" idx="1"/>
          </p:cNvCxnSpPr>
          <p:nvPr/>
        </p:nvCxnSpPr>
        <p:spPr bwMode="auto">
          <a:xfrm rot="10800000" flipV="1">
            <a:off x="3419872" y="461864"/>
            <a:ext cx="648072" cy="14808"/>
          </a:xfrm>
          <a:prstGeom prst="straightConnector1">
            <a:avLst/>
          </a:prstGeom>
          <a:solidFill>
            <a:schemeClr val="accent1"/>
          </a:solidFill>
          <a:ln w="9525" cap="flat" cmpd="sng" algn="ctr">
            <a:solidFill>
              <a:srgbClr val="FF0000"/>
            </a:solidFill>
            <a:prstDash val="solid"/>
            <a:round/>
            <a:headEnd type="none" w="med" len="med"/>
            <a:tailEnd type="arrow"/>
          </a:ln>
          <a:effectLst/>
        </p:spPr>
      </p:cxn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MX"/>
          </a:p>
        </p:txBody>
      </p:sp>
      <p:sp>
        <p:nvSpPr>
          <p:cNvPr id="3" name="2 Marcador de contenido"/>
          <p:cNvSpPr>
            <a:spLocks noGrp="1"/>
          </p:cNvSpPr>
          <p:nvPr>
            <p:ph idx="1"/>
          </p:nvPr>
        </p:nvSpPr>
        <p:spPr>
          <a:xfrm>
            <a:off x="755576" y="1257300"/>
            <a:ext cx="5797624" cy="4991100"/>
          </a:xfrm>
        </p:spPr>
        <p:txBody>
          <a:bodyPr/>
          <a:lstStyle/>
          <a:p>
            <a:pPr algn="just">
              <a:lnSpc>
                <a:spcPct val="150000"/>
              </a:lnSpc>
            </a:pPr>
            <a:r>
              <a:rPr lang="es-MX" dirty="0" smtClean="0">
                <a:solidFill>
                  <a:schemeClr val="accent4">
                    <a:lumMod val="75000"/>
                    <a:lumOff val="25000"/>
                  </a:schemeClr>
                </a:solidFill>
              </a:rPr>
              <a:t>Un programa escrito en </a:t>
            </a:r>
            <a:r>
              <a:rPr lang="es-MX" dirty="0" err="1" smtClean="0">
                <a:solidFill>
                  <a:schemeClr val="accent4">
                    <a:lumMod val="75000"/>
                    <a:lumOff val="25000"/>
                  </a:schemeClr>
                </a:solidFill>
              </a:rPr>
              <a:t>PseudoCódigo</a:t>
            </a:r>
            <a:r>
              <a:rPr lang="es-MX" dirty="0" smtClean="0">
                <a:solidFill>
                  <a:schemeClr val="accent4">
                    <a:lumMod val="75000"/>
                    <a:lumOff val="25000"/>
                  </a:schemeClr>
                </a:solidFill>
              </a:rPr>
              <a:t> comienza con la palabra clave </a:t>
            </a:r>
            <a:r>
              <a:rPr lang="es-MX" b="1" dirty="0" smtClean="0">
                <a:solidFill>
                  <a:schemeClr val="accent4">
                    <a:lumMod val="75000"/>
                    <a:lumOff val="25000"/>
                  </a:schemeClr>
                </a:solidFill>
              </a:rPr>
              <a:t>Proceso</a:t>
            </a:r>
            <a:r>
              <a:rPr lang="es-MX" dirty="0" smtClean="0">
                <a:solidFill>
                  <a:schemeClr val="accent4">
                    <a:lumMod val="75000"/>
                    <a:lumOff val="25000"/>
                  </a:schemeClr>
                </a:solidFill>
              </a:rPr>
              <a:t> seguida del nombre del programa, luego le sigue una secuencia de instrucciones y finaliza con la palabra </a:t>
            </a:r>
            <a:r>
              <a:rPr lang="es-MX" b="1" dirty="0" err="1" smtClean="0">
                <a:solidFill>
                  <a:schemeClr val="accent4">
                    <a:lumMod val="75000"/>
                    <a:lumOff val="25000"/>
                  </a:schemeClr>
                </a:solidFill>
              </a:rPr>
              <a:t>FinProceso</a:t>
            </a:r>
            <a:r>
              <a:rPr lang="es-MX" dirty="0" smtClean="0">
                <a:solidFill>
                  <a:schemeClr val="accent4">
                    <a:lumMod val="75000"/>
                    <a:lumOff val="25000"/>
                  </a:schemeClr>
                </a:solidFill>
              </a:rPr>
              <a:t>. </a:t>
            </a:r>
          </a:p>
          <a:p>
            <a:pPr algn="just">
              <a:lnSpc>
                <a:spcPct val="150000"/>
              </a:lnSpc>
            </a:pPr>
            <a:r>
              <a:rPr lang="es-MX" dirty="0" smtClean="0">
                <a:solidFill>
                  <a:schemeClr val="accent4">
                    <a:lumMod val="75000"/>
                    <a:lumOff val="25000"/>
                  </a:schemeClr>
                </a:solidFill>
              </a:rPr>
              <a:t>Proceso &lt;nombre&gt;</a:t>
            </a:r>
          </a:p>
          <a:p>
            <a:pPr algn="just">
              <a:lnSpc>
                <a:spcPct val="150000"/>
              </a:lnSpc>
            </a:pPr>
            <a:r>
              <a:rPr lang="es-MX" dirty="0" smtClean="0">
                <a:solidFill>
                  <a:schemeClr val="accent4">
                    <a:lumMod val="75000"/>
                    <a:lumOff val="25000"/>
                  </a:schemeClr>
                </a:solidFill>
              </a:rPr>
              <a:t> 	&lt;secuencia de instrucciones&gt; </a:t>
            </a:r>
            <a:r>
              <a:rPr lang="es-MX" dirty="0" err="1" smtClean="0">
                <a:solidFill>
                  <a:schemeClr val="accent4">
                    <a:lumMod val="75000"/>
                    <a:lumOff val="25000"/>
                  </a:schemeClr>
                </a:solidFill>
              </a:rPr>
              <a:t>FinProceso</a:t>
            </a:r>
            <a:endParaRPr lang="es-MX" dirty="0">
              <a:solidFill>
                <a:schemeClr val="accent4">
                  <a:lumMod val="75000"/>
                  <a:lumOff val="25000"/>
                </a:schemeClr>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MX"/>
          </a:p>
        </p:txBody>
      </p:sp>
      <p:sp>
        <p:nvSpPr>
          <p:cNvPr id="3" name="2 Marcador de contenido"/>
          <p:cNvSpPr>
            <a:spLocks noGrp="1"/>
          </p:cNvSpPr>
          <p:nvPr>
            <p:ph idx="1"/>
          </p:nvPr>
        </p:nvSpPr>
        <p:spPr>
          <a:xfrm>
            <a:off x="1619672" y="1988840"/>
            <a:ext cx="4953000" cy="2675756"/>
          </a:xfrm>
        </p:spPr>
        <p:txBody>
          <a:bodyPr/>
          <a:lstStyle/>
          <a:p>
            <a:r>
              <a:rPr lang="es-MX" dirty="0" smtClean="0">
                <a:solidFill>
                  <a:schemeClr val="accent4">
                    <a:lumMod val="75000"/>
                    <a:lumOff val="25000"/>
                  </a:schemeClr>
                </a:solidFill>
              </a:rPr>
              <a:t>Proceso </a:t>
            </a:r>
            <a:r>
              <a:rPr lang="es-MX" dirty="0" err="1" smtClean="0">
                <a:solidFill>
                  <a:schemeClr val="accent4">
                    <a:lumMod val="75000"/>
                    <a:lumOff val="25000"/>
                  </a:schemeClr>
                </a:solidFill>
              </a:rPr>
              <a:t>sin_titulo</a:t>
            </a:r>
            <a:endParaRPr lang="es-MX" dirty="0" smtClean="0">
              <a:solidFill>
                <a:schemeClr val="accent4">
                  <a:lumMod val="75000"/>
                  <a:lumOff val="25000"/>
                </a:schemeClr>
              </a:solidFill>
            </a:endParaRPr>
          </a:p>
          <a:p>
            <a:r>
              <a:rPr lang="es-MX" dirty="0" smtClean="0">
                <a:solidFill>
                  <a:schemeClr val="accent4">
                    <a:lumMod val="75000"/>
                    <a:lumOff val="25000"/>
                  </a:schemeClr>
                </a:solidFill>
              </a:rPr>
              <a:t>	Escribir "HOLA";</a:t>
            </a:r>
          </a:p>
          <a:p>
            <a:r>
              <a:rPr lang="es-MX" dirty="0" err="1" smtClean="0">
                <a:solidFill>
                  <a:schemeClr val="accent4">
                    <a:lumMod val="75000"/>
                    <a:lumOff val="25000"/>
                  </a:schemeClr>
                </a:solidFill>
              </a:rPr>
              <a:t>FinProceso</a:t>
            </a:r>
            <a:endParaRPr lang="es-MX" dirty="0">
              <a:solidFill>
                <a:schemeClr val="accent4">
                  <a:lumMod val="75000"/>
                  <a:lumOff val="25000"/>
                </a:schemeClr>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MX"/>
          </a:p>
        </p:txBody>
      </p:sp>
      <p:sp>
        <p:nvSpPr>
          <p:cNvPr id="3" name="2 Marcador de contenido"/>
          <p:cNvSpPr>
            <a:spLocks noGrp="1"/>
          </p:cNvSpPr>
          <p:nvPr>
            <p:ph idx="1"/>
          </p:nvPr>
        </p:nvSpPr>
        <p:spPr>
          <a:xfrm>
            <a:off x="395536" y="2542356"/>
            <a:ext cx="6120680" cy="4991100"/>
          </a:xfrm>
        </p:spPr>
        <p:txBody>
          <a:bodyPr/>
          <a:lstStyle/>
          <a:p>
            <a:r>
              <a:rPr lang="es-MX" dirty="0" smtClean="0">
                <a:solidFill>
                  <a:schemeClr val="accent4">
                    <a:lumMod val="75000"/>
                    <a:lumOff val="25000"/>
                  </a:schemeClr>
                </a:solidFill>
              </a:rPr>
              <a:t>Proceso EDAD</a:t>
            </a:r>
          </a:p>
          <a:p>
            <a:r>
              <a:rPr lang="es-MX" dirty="0" smtClean="0">
                <a:solidFill>
                  <a:schemeClr val="accent4">
                    <a:lumMod val="75000"/>
                    <a:lumOff val="25000"/>
                  </a:schemeClr>
                </a:solidFill>
              </a:rPr>
              <a:t>	Escribir "HOLA";</a:t>
            </a:r>
          </a:p>
          <a:p>
            <a:r>
              <a:rPr lang="es-MX" dirty="0" smtClean="0">
                <a:solidFill>
                  <a:schemeClr val="accent4">
                    <a:lumMod val="75000"/>
                    <a:lumOff val="25000"/>
                  </a:schemeClr>
                </a:solidFill>
              </a:rPr>
              <a:t>	Escribir "CUAL ES TU EDAD";</a:t>
            </a:r>
          </a:p>
          <a:p>
            <a:r>
              <a:rPr lang="es-MX" dirty="0" smtClean="0">
                <a:solidFill>
                  <a:schemeClr val="accent4">
                    <a:lumMod val="75000"/>
                    <a:lumOff val="25000"/>
                  </a:schemeClr>
                </a:solidFill>
              </a:rPr>
              <a:t>	Leer edad;</a:t>
            </a:r>
          </a:p>
          <a:p>
            <a:r>
              <a:rPr lang="es-MX" dirty="0" smtClean="0">
                <a:solidFill>
                  <a:schemeClr val="accent4">
                    <a:lumMod val="75000"/>
                    <a:lumOff val="25000"/>
                  </a:schemeClr>
                </a:solidFill>
              </a:rPr>
              <a:t>	Escribir “TU EDAD ES DE  ", edad;</a:t>
            </a:r>
          </a:p>
          <a:p>
            <a:r>
              <a:rPr lang="es-MX" dirty="0" err="1" smtClean="0">
                <a:solidFill>
                  <a:schemeClr val="accent4">
                    <a:lumMod val="75000"/>
                    <a:lumOff val="25000"/>
                  </a:schemeClr>
                </a:solidFill>
              </a:rPr>
              <a:t>FinProceso</a:t>
            </a:r>
            <a:endParaRPr lang="es-MX" dirty="0">
              <a:solidFill>
                <a:schemeClr val="accent4">
                  <a:lumMod val="75000"/>
                  <a:lumOff val="25000"/>
                </a:schemeClr>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MX"/>
          </a:p>
        </p:txBody>
      </p:sp>
      <p:sp>
        <p:nvSpPr>
          <p:cNvPr id="3" name="2 Marcador de contenido"/>
          <p:cNvSpPr>
            <a:spLocks noGrp="1"/>
          </p:cNvSpPr>
          <p:nvPr>
            <p:ph idx="1"/>
          </p:nvPr>
        </p:nvSpPr>
        <p:spPr/>
        <p:txBody>
          <a:bodyPr/>
          <a:lstStyle/>
          <a:p>
            <a:pPr algn="just">
              <a:lnSpc>
                <a:spcPct val="150000"/>
              </a:lnSpc>
            </a:pPr>
            <a:r>
              <a:rPr lang="es-MX" dirty="0" smtClean="0">
                <a:solidFill>
                  <a:schemeClr val="accent4">
                    <a:lumMod val="75000"/>
                    <a:lumOff val="25000"/>
                  </a:schemeClr>
                </a:solidFill>
              </a:rPr>
              <a:t>Donde una secuencia de instrucciones es una lista de una o más instrucciones, cada una terminada en punto y coma. </a:t>
            </a:r>
          </a:p>
          <a:p>
            <a:pPr algn="just">
              <a:lnSpc>
                <a:spcPct val="150000"/>
              </a:lnSpc>
            </a:pPr>
            <a:endParaRPr lang="es-MX" dirty="0" smtClean="0">
              <a:solidFill>
                <a:schemeClr val="accent4">
                  <a:lumMod val="75000"/>
                  <a:lumOff val="25000"/>
                </a:schemeClr>
              </a:solidFill>
            </a:endParaRPr>
          </a:p>
          <a:p>
            <a:pPr algn="just">
              <a:lnSpc>
                <a:spcPct val="150000"/>
              </a:lnSpc>
            </a:pPr>
            <a:r>
              <a:rPr lang="es-MX" dirty="0" smtClean="0">
                <a:solidFill>
                  <a:schemeClr val="accent4">
                    <a:lumMod val="75000"/>
                    <a:lumOff val="25000"/>
                  </a:schemeClr>
                </a:solidFill>
              </a:rPr>
              <a:t>&lt;instrucción&gt;; </a:t>
            </a:r>
          </a:p>
          <a:p>
            <a:pPr algn="just">
              <a:lnSpc>
                <a:spcPct val="150000"/>
              </a:lnSpc>
            </a:pPr>
            <a:r>
              <a:rPr lang="es-MX" dirty="0" smtClean="0">
                <a:solidFill>
                  <a:schemeClr val="accent4">
                    <a:lumMod val="75000"/>
                    <a:lumOff val="25000"/>
                  </a:schemeClr>
                </a:solidFill>
              </a:rPr>
              <a:t>&lt;instrucción&gt;; ... &lt;instrucción&gt;; </a:t>
            </a:r>
          </a:p>
          <a:p>
            <a:endParaRPr lang="es-MX"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MX"/>
          </a:p>
        </p:txBody>
      </p:sp>
      <p:sp>
        <p:nvSpPr>
          <p:cNvPr id="3" name="2 Marcador de contenido"/>
          <p:cNvSpPr>
            <a:spLocks noGrp="1"/>
          </p:cNvSpPr>
          <p:nvPr>
            <p:ph idx="1"/>
          </p:nvPr>
        </p:nvSpPr>
        <p:spPr>
          <a:xfrm>
            <a:off x="0" y="1700808"/>
            <a:ext cx="6553200" cy="4991100"/>
          </a:xfrm>
        </p:spPr>
        <p:txBody>
          <a:bodyPr/>
          <a:lstStyle/>
          <a:p>
            <a:r>
              <a:rPr lang="es-MX" dirty="0" smtClean="0"/>
              <a:t>Proceso </a:t>
            </a:r>
            <a:r>
              <a:rPr lang="es-MX" dirty="0" err="1" smtClean="0"/>
              <a:t>sin_titulo</a:t>
            </a:r>
            <a:endParaRPr lang="es-MX" dirty="0" smtClean="0"/>
          </a:p>
          <a:p>
            <a:r>
              <a:rPr lang="es-MX" dirty="0" smtClean="0"/>
              <a:t>	Escribir "ESCRIBE LA BASE";</a:t>
            </a:r>
          </a:p>
          <a:p>
            <a:r>
              <a:rPr lang="es-MX" dirty="0" smtClean="0"/>
              <a:t>	Leer B;</a:t>
            </a:r>
          </a:p>
          <a:p>
            <a:r>
              <a:rPr lang="es-MX" dirty="0" smtClean="0"/>
              <a:t>	Escribir "ESCRIBE LA ALTURA";</a:t>
            </a:r>
          </a:p>
          <a:p>
            <a:r>
              <a:rPr lang="es-MX" dirty="0" smtClean="0"/>
              <a:t>	Leer H;</a:t>
            </a:r>
          </a:p>
          <a:p>
            <a:r>
              <a:rPr lang="es-MX" dirty="0" smtClean="0"/>
              <a:t>	AREA&lt;-B*H;</a:t>
            </a:r>
          </a:p>
          <a:p>
            <a:r>
              <a:rPr lang="es-MX" dirty="0" smtClean="0"/>
              <a:t>	Escribir "RESULTADO ", AREA;</a:t>
            </a:r>
          </a:p>
          <a:p>
            <a:r>
              <a:rPr lang="es-MX" dirty="0" smtClean="0"/>
              <a:t>	</a:t>
            </a:r>
          </a:p>
          <a:p>
            <a:r>
              <a:rPr lang="es-MX" dirty="0" err="1" smtClean="0"/>
              <a:t>FinProceso</a:t>
            </a:r>
            <a:endParaRPr lang="es-MX"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07504" y="404664"/>
            <a:ext cx="8521700" cy="914400"/>
          </a:xfrm>
        </p:spPr>
        <p:txBody>
          <a:bodyPr/>
          <a:lstStyle/>
          <a:p>
            <a:r>
              <a:rPr lang="es-MX" dirty="0"/>
              <a:t>Acerca de constantes, identificadores y palabras reservadas</a:t>
            </a:r>
            <a:br>
              <a:rPr lang="es-MX" dirty="0"/>
            </a:br>
            <a:endParaRPr lang="es-MX" dirty="0"/>
          </a:p>
        </p:txBody>
      </p:sp>
      <p:sp>
        <p:nvSpPr>
          <p:cNvPr id="3" name="2 Marcador de contenido"/>
          <p:cNvSpPr>
            <a:spLocks noGrp="1"/>
          </p:cNvSpPr>
          <p:nvPr>
            <p:ph idx="1"/>
          </p:nvPr>
        </p:nvSpPr>
        <p:spPr>
          <a:xfrm>
            <a:off x="395536" y="1257300"/>
            <a:ext cx="6157664" cy="4991100"/>
          </a:xfrm>
        </p:spPr>
        <p:txBody>
          <a:bodyPr/>
          <a:lstStyle/>
          <a:p>
            <a:pPr algn="just"/>
            <a:r>
              <a:rPr lang="es-MX" dirty="0" smtClean="0">
                <a:solidFill>
                  <a:schemeClr val="accent4">
                    <a:lumMod val="75000"/>
                    <a:lumOff val="25000"/>
                  </a:schemeClr>
                </a:solidFill>
              </a:rPr>
              <a:t>Los identificadores, o nombres de variables, deben constar sólo de letras y números, comenzando siempre con una letra. </a:t>
            </a:r>
          </a:p>
          <a:p>
            <a:pPr algn="just"/>
            <a:r>
              <a:rPr lang="es-MX" dirty="0" smtClean="0">
                <a:solidFill>
                  <a:schemeClr val="accent4">
                    <a:lumMod val="75000"/>
                    <a:lumOff val="25000"/>
                  </a:schemeClr>
                </a:solidFill>
              </a:rPr>
              <a:t>Las constantes de tipo carácter se escriben entre comillas ( " ). </a:t>
            </a:r>
          </a:p>
          <a:p>
            <a:pPr algn="just"/>
            <a:r>
              <a:rPr lang="es-MX" dirty="0" smtClean="0">
                <a:solidFill>
                  <a:schemeClr val="accent4">
                    <a:lumMod val="75000"/>
                    <a:lumOff val="25000"/>
                  </a:schemeClr>
                </a:solidFill>
              </a:rPr>
              <a:t>En las constantes numéricas, el punto ( . ) es el separador decimal. </a:t>
            </a:r>
          </a:p>
          <a:p>
            <a:pPr algn="just"/>
            <a:r>
              <a:rPr lang="es-MX" dirty="0" smtClean="0">
                <a:solidFill>
                  <a:schemeClr val="accent4">
                    <a:lumMod val="75000"/>
                    <a:lumOff val="25000"/>
                  </a:schemeClr>
                </a:solidFill>
              </a:rPr>
              <a:t>Las constantes lógicas son </a:t>
            </a:r>
            <a:r>
              <a:rPr lang="es-MX" b="1" dirty="0" smtClean="0">
                <a:solidFill>
                  <a:schemeClr val="accent4">
                    <a:lumMod val="75000"/>
                    <a:lumOff val="25000"/>
                  </a:schemeClr>
                </a:solidFill>
              </a:rPr>
              <a:t>Verdadero</a:t>
            </a:r>
            <a:r>
              <a:rPr lang="es-MX" dirty="0" smtClean="0">
                <a:solidFill>
                  <a:schemeClr val="accent4">
                    <a:lumMod val="75000"/>
                    <a:lumOff val="25000"/>
                  </a:schemeClr>
                </a:solidFill>
              </a:rPr>
              <a:t> y </a:t>
            </a:r>
            <a:r>
              <a:rPr lang="es-MX" b="1" dirty="0" smtClean="0">
                <a:solidFill>
                  <a:schemeClr val="accent4">
                    <a:lumMod val="75000"/>
                    <a:lumOff val="25000"/>
                  </a:schemeClr>
                </a:solidFill>
              </a:rPr>
              <a:t>Falso</a:t>
            </a:r>
            <a:r>
              <a:rPr lang="es-MX" dirty="0" smtClean="0">
                <a:solidFill>
                  <a:schemeClr val="accent4">
                    <a:lumMod val="75000"/>
                    <a:lumOff val="25000"/>
                  </a:schemeClr>
                </a:solidFill>
              </a:rPr>
              <a:t>. </a:t>
            </a:r>
          </a:p>
          <a:p>
            <a:pPr algn="just"/>
            <a:r>
              <a:rPr lang="es-MX" dirty="0" smtClean="0">
                <a:solidFill>
                  <a:schemeClr val="accent4">
                    <a:lumMod val="75000"/>
                    <a:lumOff val="25000"/>
                  </a:schemeClr>
                </a:solidFill>
              </a:rPr>
              <a:t>Las palabras reservadas no llevan acentos. Por ejemplo, </a:t>
            </a:r>
            <a:r>
              <a:rPr lang="es-MX" b="1" dirty="0" err="1" smtClean="0">
                <a:solidFill>
                  <a:schemeClr val="accent4">
                    <a:lumMod val="75000"/>
                    <a:lumOff val="25000"/>
                  </a:schemeClr>
                </a:solidFill>
              </a:rPr>
              <a:t>Segun</a:t>
            </a:r>
            <a:r>
              <a:rPr lang="es-MX" dirty="0" smtClean="0">
                <a:solidFill>
                  <a:schemeClr val="accent4">
                    <a:lumMod val="75000"/>
                    <a:lumOff val="25000"/>
                  </a:schemeClr>
                </a:solidFill>
              </a:rPr>
              <a:t>, </a:t>
            </a:r>
            <a:r>
              <a:rPr lang="es-MX" b="1" dirty="0" err="1" smtClean="0">
                <a:solidFill>
                  <a:schemeClr val="accent4">
                    <a:lumMod val="75000"/>
                    <a:lumOff val="25000"/>
                  </a:schemeClr>
                </a:solidFill>
              </a:rPr>
              <a:t>Dimension</a:t>
            </a:r>
            <a:r>
              <a:rPr lang="es-MX" dirty="0" smtClean="0">
                <a:solidFill>
                  <a:schemeClr val="accent4">
                    <a:lumMod val="75000"/>
                    <a:lumOff val="25000"/>
                  </a:schemeClr>
                </a:solidFill>
              </a:rPr>
              <a:t>. </a:t>
            </a:r>
          </a:p>
          <a:p>
            <a:endParaRPr lang="es-MX"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22300" y="482600"/>
            <a:ext cx="7838132" cy="914400"/>
          </a:xfrm>
        </p:spPr>
        <p:txBody>
          <a:bodyPr/>
          <a:lstStyle/>
          <a:p>
            <a:r>
              <a:rPr lang="es-MX" dirty="0" smtClean="0"/>
              <a:t>1.8 Compiladores e interpretes</a:t>
            </a:r>
            <a:endParaRPr lang="es-MX" dirty="0"/>
          </a:p>
        </p:txBody>
      </p:sp>
      <p:sp>
        <p:nvSpPr>
          <p:cNvPr id="3" name="2 Marcador de contenido"/>
          <p:cNvSpPr>
            <a:spLocks noGrp="1"/>
          </p:cNvSpPr>
          <p:nvPr>
            <p:ph idx="1"/>
          </p:nvPr>
        </p:nvSpPr>
        <p:spPr>
          <a:xfrm>
            <a:off x="539552" y="1534244"/>
            <a:ext cx="7488832" cy="4991100"/>
          </a:xfrm>
        </p:spPr>
        <p:txBody>
          <a:bodyPr/>
          <a:lstStyle/>
          <a:p>
            <a:pPr algn="just"/>
            <a:r>
              <a:rPr lang="es-MX" dirty="0" smtClean="0"/>
              <a:t>Un traductor es cualquier programa que toma como entrada un texto escrito en un lenguaje, llamado fuente y da como salida otro texto en un lenguaje, denominado objeto.</a:t>
            </a:r>
            <a:endParaRPr lang="es-MX" b="1" dirty="0" smtClean="0"/>
          </a:p>
          <a:p>
            <a:r>
              <a:rPr lang="es-MX" dirty="0" smtClean="0"/>
              <a:t>Existen distintos tipos de traductores, entre ellos destacan:</a:t>
            </a:r>
            <a:endParaRPr lang="es-MX" b="1" dirty="0" smtClean="0"/>
          </a:p>
          <a:p>
            <a:pPr>
              <a:buNone/>
            </a:pPr>
            <a:r>
              <a:rPr lang="es-MX" dirty="0" smtClean="0"/>
              <a:t> </a:t>
            </a:r>
            <a:endParaRPr lang="es-MX" b="1" dirty="0" smtClean="0"/>
          </a:p>
          <a:p>
            <a:pPr>
              <a:buNone/>
            </a:pPr>
            <a:r>
              <a:rPr lang="es-MX" dirty="0" smtClean="0"/>
              <a:t> •Ensambladores</a:t>
            </a:r>
            <a:endParaRPr lang="es-MX" b="1" dirty="0" smtClean="0"/>
          </a:p>
          <a:p>
            <a:pPr>
              <a:buNone/>
            </a:pPr>
            <a:r>
              <a:rPr lang="es-MX" dirty="0" smtClean="0"/>
              <a:t> •Preprocesadores</a:t>
            </a:r>
            <a:endParaRPr lang="es-MX" b="1" dirty="0" smtClean="0"/>
          </a:p>
          <a:p>
            <a:pPr>
              <a:buNone/>
            </a:pPr>
            <a:r>
              <a:rPr lang="es-MX" dirty="0" smtClean="0"/>
              <a:t> •Intérpretes</a:t>
            </a:r>
            <a:endParaRPr lang="es-MX" b="1" dirty="0" smtClean="0"/>
          </a:p>
          <a:p>
            <a:pPr>
              <a:buNone/>
            </a:pPr>
            <a:r>
              <a:rPr lang="es-MX" dirty="0" smtClean="0"/>
              <a:t> •Compiladores </a:t>
            </a:r>
            <a:endParaRPr lang="es-MX" b="1" dirty="0" smtClean="0"/>
          </a:p>
          <a:p>
            <a:endParaRPr lang="es-MX"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2536" y="260648"/>
            <a:ext cx="9144000" cy="914400"/>
          </a:xfrm>
        </p:spPr>
        <p:txBody>
          <a:bodyPr/>
          <a:lstStyle/>
          <a:p>
            <a:r>
              <a:rPr lang="es-MX" dirty="0" smtClean="0"/>
              <a:t>Diferencias entre Compilador e Interprete </a:t>
            </a:r>
            <a:endParaRPr lang="es-MX" dirty="0"/>
          </a:p>
        </p:txBody>
      </p:sp>
      <p:sp>
        <p:nvSpPr>
          <p:cNvPr id="3" name="2 Marcador de contenido"/>
          <p:cNvSpPr>
            <a:spLocks noGrp="1"/>
          </p:cNvSpPr>
          <p:nvPr>
            <p:ph idx="1"/>
          </p:nvPr>
        </p:nvSpPr>
        <p:spPr>
          <a:xfrm>
            <a:off x="899592" y="1534244"/>
            <a:ext cx="6356176" cy="4991100"/>
          </a:xfrm>
        </p:spPr>
        <p:txBody>
          <a:bodyPr/>
          <a:lstStyle/>
          <a:p>
            <a:pPr algn="just"/>
            <a:r>
              <a:rPr lang="es-MX" dirty="0" smtClean="0"/>
              <a:t>Un programa que ha sido compilado puede correr por si solo, pues en el proceso de compilación se transformo en otro lenguaje (lenguaje máquina).</a:t>
            </a:r>
          </a:p>
          <a:p>
            <a:pPr algn="just"/>
            <a:endParaRPr lang="es-MX" b="1" dirty="0" smtClean="0"/>
          </a:p>
          <a:p>
            <a:pPr algn="just"/>
            <a:r>
              <a:rPr lang="es-MX" dirty="0" smtClean="0"/>
              <a:t>Un intérprete traduce el programa cuando lo lee, convirtiendo el código del programa directamente en acciones.</a:t>
            </a:r>
          </a:p>
          <a:p>
            <a:pPr algn="just"/>
            <a:endParaRPr lang="es-MX" b="1" dirty="0" smtClean="0"/>
          </a:p>
          <a:p>
            <a:pPr algn="just"/>
            <a:endParaRPr lang="es-MX" b="1" dirty="0" smtClean="0"/>
          </a:p>
          <a:p>
            <a:endParaRPr lang="es-MX"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MX"/>
          </a:p>
        </p:txBody>
      </p:sp>
      <p:sp>
        <p:nvSpPr>
          <p:cNvPr id="3" name="2 Marcador de contenido"/>
          <p:cNvSpPr>
            <a:spLocks noGrp="1"/>
          </p:cNvSpPr>
          <p:nvPr>
            <p:ph idx="1"/>
          </p:nvPr>
        </p:nvSpPr>
        <p:spPr>
          <a:xfrm>
            <a:off x="611560" y="1772816"/>
            <a:ext cx="6768752" cy="4115916"/>
          </a:xfrm>
        </p:spPr>
        <p:txBody>
          <a:bodyPr/>
          <a:lstStyle/>
          <a:p>
            <a:pPr algn="just"/>
            <a:r>
              <a:rPr lang="es-MX" dirty="0" smtClean="0"/>
              <a:t>La ventaja del intérprete es que dado cualquier programa puede interpretarlo en cualquier plataforma (sistema operativo), en cambio el archivo generado por el compilador solo funciona en la plataforma en donde se lo ha creado.</a:t>
            </a:r>
            <a:endParaRPr lang="es-MX" b="1" dirty="0" smtClean="0"/>
          </a:p>
          <a:p>
            <a:pPr algn="just"/>
            <a:r>
              <a:rPr lang="es-MX" dirty="0" smtClean="0"/>
              <a:t>Pero por otro lado un archivo compilado puede ser distribuido fácilmente conociendo la plataforma, mientras que un archivo interpretado no funciona si no se tiene el intérprete.</a:t>
            </a:r>
            <a:endParaRPr lang="es-MX" b="1"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MX"/>
          </a:p>
        </p:txBody>
      </p:sp>
      <p:sp>
        <p:nvSpPr>
          <p:cNvPr id="3" name="2 Marcador de contenido"/>
          <p:cNvSpPr>
            <a:spLocks noGrp="1"/>
          </p:cNvSpPr>
          <p:nvPr>
            <p:ph idx="1"/>
          </p:nvPr>
        </p:nvSpPr>
        <p:spPr>
          <a:xfrm>
            <a:off x="179512" y="1462236"/>
            <a:ext cx="8136904" cy="4991100"/>
          </a:xfrm>
        </p:spPr>
        <p:txBody>
          <a:bodyPr/>
          <a:lstStyle/>
          <a:p>
            <a:pPr lvl="0" algn="just"/>
            <a:r>
              <a:rPr lang="es-ES" b="1" dirty="0" smtClean="0"/>
              <a:t>Compilador</a:t>
            </a:r>
            <a:r>
              <a:rPr lang="es-ES" dirty="0" smtClean="0"/>
              <a:t>, que analiza el programa fuente y lo traduce a otro equivalente escrito en otro lenguaje (por ejemplo, en el lenguaje de la máquina). Su acción equivale a la de un traductor humano, que toma un libro y produce otro equivalente escrito en otra lengua.</a:t>
            </a:r>
            <a:endParaRPr lang="es-MX" dirty="0" smtClean="0"/>
          </a:p>
          <a:p>
            <a:pPr algn="just"/>
            <a:endParaRPr lang="es-MX" dirty="0" smtClean="0"/>
          </a:p>
          <a:p>
            <a:pPr lvl="0" algn="just"/>
            <a:r>
              <a:rPr lang="es-ES" b="1" dirty="0" smtClean="0"/>
              <a:t>Intérprete</a:t>
            </a:r>
            <a:r>
              <a:rPr lang="es-ES" dirty="0" smtClean="0"/>
              <a:t>, que analiza el programa fuente y lo ejecuta directamente, sin generar ningún código equivalente. Su acción equivale a la de un intérprete humano, que traduce las frases que oye sobre la marcha, sin producir ningún escrito permanente. Intérpretes y compiladores tienen diversas ventajas e inconvenientes que los hacen complementarios: </a:t>
            </a:r>
            <a:endParaRPr lang="es-MX" dirty="0" smtClean="0"/>
          </a:p>
          <a:p>
            <a:endParaRPr lang="es-MX"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smtClean="0"/>
              <a:t>1.9 EJECUTABLES</a:t>
            </a:r>
            <a:endParaRPr lang="es-MX" dirty="0"/>
          </a:p>
        </p:txBody>
      </p:sp>
      <p:sp>
        <p:nvSpPr>
          <p:cNvPr id="3" name="2 Marcador de contenido"/>
          <p:cNvSpPr>
            <a:spLocks noGrp="1"/>
          </p:cNvSpPr>
          <p:nvPr>
            <p:ph idx="1"/>
          </p:nvPr>
        </p:nvSpPr>
        <p:spPr>
          <a:xfrm>
            <a:off x="971600" y="1257300"/>
            <a:ext cx="6120680" cy="4991100"/>
          </a:xfrm>
        </p:spPr>
        <p:txBody>
          <a:bodyPr/>
          <a:lstStyle/>
          <a:p>
            <a:pPr algn="just"/>
            <a:r>
              <a:rPr lang="es-ES" dirty="0" smtClean="0"/>
              <a:t>un </a:t>
            </a:r>
            <a:r>
              <a:rPr lang="es-ES" b="1" dirty="0" smtClean="0"/>
              <a:t>ejecutable</a:t>
            </a:r>
            <a:r>
              <a:rPr lang="es-ES" dirty="0" smtClean="0"/>
              <a:t> o </a:t>
            </a:r>
            <a:r>
              <a:rPr lang="es-ES" b="1" dirty="0" smtClean="0"/>
              <a:t>archivo ejecutable</a:t>
            </a:r>
            <a:r>
              <a:rPr lang="es-ES" dirty="0" smtClean="0"/>
              <a:t>, es tradicionalmente un archivo binario cuyo contenido se interpreta por la computadora como un programa.</a:t>
            </a:r>
            <a:endParaRPr lang="es-MX" dirty="0" smtClean="0"/>
          </a:p>
          <a:p>
            <a:endParaRPr lang="es-MX"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6512" y="482600"/>
            <a:ext cx="8892480" cy="914400"/>
          </a:xfrm>
        </p:spPr>
        <p:txBody>
          <a:bodyPr/>
          <a:lstStyle/>
          <a:p>
            <a:r>
              <a:rPr lang="es-ES" dirty="0" smtClean="0"/>
              <a:t>1.10 CONSOLA DE LÍNEA DE COMANDOS</a:t>
            </a:r>
            <a:endParaRPr lang="es-MX" dirty="0"/>
          </a:p>
        </p:txBody>
      </p:sp>
      <p:sp>
        <p:nvSpPr>
          <p:cNvPr id="3" name="2 Marcador de contenido"/>
          <p:cNvSpPr>
            <a:spLocks noGrp="1"/>
          </p:cNvSpPr>
          <p:nvPr>
            <p:ph idx="1"/>
          </p:nvPr>
        </p:nvSpPr>
        <p:spPr>
          <a:xfrm>
            <a:off x="539552" y="1894284"/>
            <a:ext cx="6696744" cy="4991100"/>
          </a:xfrm>
        </p:spPr>
        <p:txBody>
          <a:bodyPr/>
          <a:lstStyle/>
          <a:p>
            <a:pPr algn="just"/>
            <a:r>
              <a:rPr lang="es-ES" b="1" dirty="0" smtClean="0"/>
              <a:t>Interfaz de Línea de Comandos (CLI)</a:t>
            </a:r>
            <a:r>
              <a:rPr lang="es-ES" dirty="0" smtClean="0"/>
              <a:t>, por su acrónimo en inglés de </a:t>
            </a:r>
            <a:r>
              <a:rPr lang="es-ES" b="1" dirty="0" err="1" smtClean="0"/>
              <a:t>Command</a:t>
            </a:r>
            <a:r>
              <a:rPr lang="es-ES" b="1" dirty="0" smtClean="0"/>
              <a:t> Line Interface</a:t>
            </a:r>
            <a:r>
              <a:rPr lang="es-ES" dirty="0" smtClean="0"/>
              <a:t> (CLI), es un método que permite a las personas dar instrucciones a algún programa informático por medio de una línea de texto simple. </a:t>
            </a:r>
            <a:endParaRPr lang="es-MX"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MX"/>
          </a:p>
        </p:txBody>
      </p:sp>
      <p:pic>
        <p:nvPicPr>
          <p:cNvPr id="4" name="3 Marcador de contenido"/>
          <p:cNvPicPr>
            <a:picLocks noGrp="1"/>
          </p:cNvPicPr>
          <p:nvPr>
            <p:ph idx="1"/>
          </p:nvPr>
        </p:nvPicPr>
        <p:blipFill>
          <a:blip r:embed="rId2" cstate="print"/>
          <a:srcRect l="31593" t="35593" r="30342" b="9153"/>
          <a:stretch>
            <a:fillRect/>
          </a:stretch>
        </p:blipFill>
        <p:spPr bwMode="auto">
          <a:xfrm>
            <a:off x="827585" y="0"/>
            <a:ext cx="7920879" cy="678599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smtClean="0"/>
              <a:t>Ejercicio en </a:t>
            </a:r>
            <a:r>
              <a:rPr lang="es-MX" dirty="0" err="1" smtClean="0"/>
              <a:t>PseInt</a:t>
            </a:r>
            <a:endParaRPr lang="es-MX" dirty="0"/>
          </a:p>
        </p:txBody>
      </p:sp>
      <p:sp>
        <p:nvSpPr>
          <p:cNvPr id="3" name="2 Marcador de contenido"/>
          <p:cNvSpPr>
            <a:spLocks noGrp="1"/>
          </p:cNvSpPr>
          <p:nvPr>
            <p:ph idx="1"/>
          </p:nvPr>
        </p:nvSpPr>
        <p:spPr>
          <a:xfrm>
            <a:off x="971600" y="1196752"/>
            <a:ext cx="5688632" cy="3827512"/>
          </a:xfrm>
        </p:spPr>
        <p:txBody>
          <a:bodyPr/>
          <a:lstStyle/>
          <a:p>
            <a:r>
              <a:rPr lang="es-MX" sz="3200" dirty="0" smtClean="0"/>
              <a:t>Realizar la visualización de una tabla de multiplicar</a:t>
            </a:r>
          </a:p>
          <a:p>
            <a:r>
              <a:rPr lang="es-MX" sz="3200" dirty="0" smtClean="0"/>
              <a:t> </a:t>
            </a:r>
            <a:r>
              <a:rPr lang="es-MX" sz="3200" dirty="0" smtClean="0"/>
              <a:t>3 * 1 = 3</a:t>
            </a:r>
          </a:p>
          <a:p>
            <a:r>
              <a:rPr lang="es-MX" sz="3200" dirty="0" smtClean="0"/>
              <a:t> </a:t>
            </a:r>
            <a:r>
              <a:rPr lang="es-MX" sz="3200" dirty="0" smtClean="0"/>
              <a:t>3 * 2 = 6</a:t>
            </a:r>
          </a:p>
          <a:p>
            <a:pPr lvl="2"/>
            <a:r>
              <a:rPr lang="es-MX" sz="2700" smtClean="0"/>
              <a:t>…</a:t>
            </a:r>
            <a:endParaRPr lang="es-MX" sz="27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V2_03_greenglobe">
  <a:themeElements>
    <a:clrScheme name="Mirador">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Tema de Offic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charset="0"/>
          </a:defRPr>
        </a:defPPr>
      </a:lstStyle>
    </a:lnDef>
  </a:objectDefaults>
  <a:extraClrSchemeLst>
    <a:extraClrScheme>
      <a:clrScheme name="Tema d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ma de 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ma de 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ma de 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ma de 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ma de 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ma de 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V2_03_greenglobe</Template>
  <TotalTime>181</TotalTime>
  <Words>649</Words>
  <Application>Microsoft Office PowerPoint</Application>
  <PresentationFormat>Presentación en pantalla (4:3)</PresentationFormat>
  <Paragraphs>74</Paragraphs>
  <Slides>19</Slides>
  <Notes>2</Notes>
  <HiddenSlides>0</HiddenSlides>
  <MMClips>0</MMClips>
  <ScaleCrop>false</ScaleCrop>
  <HeadingPairs>
    <vt:vector size="4" baseType="variant">
      <vt:variant>
        <vt:lpstr>Tema</vt:lpstr>
      </vt:variant>
      <vt:variant>
        <vt:i4>1</vt:i4>
      </vt:variant>
      <vt:variant>
        <vt:lpstr>Títulos de diapositiva</vt:lpstr>
      </vt:variant>
      <vt:variant>
        <vt:i4>19</vt:i4>
      </vt:variant>
    </vt:vector>
  </HeadingPairs>
  <TitlesOfParts>
    <vt:vector size="20" baseType="lpstr">
      <vt:lpstr>V2_03_greenglobe</vt:lpstr>
      <vt:lpstr>PSeInt </vt:lpstr>
      <vt:lpstr>Earning Projections</vt:lpstr>
      <vt:lpstr>Diapositiva 3</vt:lpstr>
      <vt:lpstr>Diapositiva 4</vt:lpstr>
      <vt:lpstr>Diapositiva 5</vt:lpstr>
      <vt:lpstr>Diapositiva 6</vt:lpstr>
      <vt:lpstr>Diapositiva 7</vt:lpstr>
      <vt:lpstr>Diapositiva 8</vt:lpstr>
      <vt:lpstr>Diapositiva 9</vt:lpstr>
      <vt:lpstr>Diapositiva 10</vt:lpstr>
      <vt:lpstr>Acerca de constantes, identificadores y palabras reservadas </vt:lpstr>
      <vt:lpstr>1.8 Compiladores e interpretes</vt:lpstr>
      <vt:lpstr>Diferencias entre Compilador e Interprete </vt:lpstr>
      <vt:lpstr>Diapositiva 14</vt:lpstr>
      <vt:lpstr>Diapositiva 15</vt:lpstr>
      <vt:lpstr>1.9 EJECUTABLES</vt:lpstr>
      <vt:lpstr>1.10 CONSOLA DE LÍNEA DE COMANDOS</vt:lpstr>
      <vt:lpstr>Diapositiva 18</vt:lpstr>
      <vt:lpstr>Ejercicio en PseInt</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Corporate Analysis</dc:title>
  <dc:creator>lisa</dc:creator>
  <cp:lastModifiedBy>usuario</cp:lastModifiedBy>
  <cp:revision>22</cp:revision>
  <dcterms:created xsi:type="dcterms:W3CDTF">2011-09-02T13:44:54Z</dcterms:created>
  <dcterms:modified xsi:type="dcterms:W3CDTF">2011-10-04T16:39:34Z</dcterms:modified>
</cp:coreProperties>
</file>